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bc3df92a2d4300" /><Relationship Type="http://schemas.openxmlformats.org/officeDocument/2006/relationships/extended-properties" Target="/docProps/app.xml" Id="R406fba8b85944eb1" /><Relationship Type="http://schemas.openxmlformats.org/officeDocument/2006/relationships/officeDocument" Target="/ppt/presentation.xml" Id="R118e3a222ea740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e62a1eaafd4468"/>
  </p:sldMasterIdLst>
  <p:notesMasterIdLst>
    <p:notesMasterId xmlns:r="http://schemas.openxmlformats.org/officeDocument/2006/relationships" r:id="R92ef8ba7276543f2"/>
  </p:notesMasterIdLst>
  <p:sldIdLst>
    <p:sldId xmlns:r="http://schemas.openxmlformats.org/officeDocument/2006/relationships" id="256" r:id="Rb115636a06f943db"/>
    <p:sldId xmlns:r="http://schemas.openxmlformats.org/officeDocument/2006/relationships" id="257" r:id="R35ed9129f3d74088"/>
    <p:sldId xmlns:r="http://schemas.openxmlformats.org/officeDocument/2006/relationships" id="258" r:id="Rce320e7fc0b9407d"/>
    <p:sldId xmlns:r="http://schemas.openxmlformats.org/officeDocument/2006/relationships" id="259" r:id="Rd3ee9649b8914e78"/>
    <p:sldId xmlns:r="http://schemas.openxmlformats.org/officeDocument/2006/relationships" id="260" r:id="R41868ecec1fc4af5"/>
    <p:sldId xmlns:r="http://schemas.openxmlformats.org/officeDocument/2006/relationships" id="261" r:id="R36d62b2fac394142"/>
    <p:sldId xmlns:r="http://schemas.openxmlformats.org/officeDocument/2006/relationships" id="262" r:id="R90596655cd4a4737"/>
    <p:sldId xmlns:r="http://schemas.openxmlformats.org/officeDocument/2006/relationships" id="263" r:id="R31c8a5b906ba4257"/>
    <p:sldId xmlns:r="http://schemas.openxmlformats.org/officeDocument/2006/relationships" id="264" r:id="R00215b90f8f84a9d"/>
    <p:sldId xmlns:r="http://schemas.openxmlformats.org/officeDocument/2006/relationships" id="265" r:id="R666fd6f81a9a4a50"/>
    <p:sldId xmlns:r="http://schemas.openxmlformats.org/officeDocument/2006/relationships" id="266" r:id="R0d5a24150e3e4033"/>
    <p:sldId xmlns:r="http://schemas.openxmlformats.org/officeDocument/2006/relationships" id="267" r:id="Refc3c8c919c6425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2de0e36301484e" /><Relationship Type="http://schemas.openxmlformats.org/officeDocument/2006/relationships/slideMaster" Target="/ppt/slideMasters/slideMaster1.xml" Id="R64e62a1eaafd4468" /><Relationship Type="http://schemas.openxmlformats.org/officeDocument/2006/relationships/notesMaster" Target="/ppt/notesMasters/notesMaster1.xml" Id="R92ef8ba7276543f2" /><Relationship Type="http://schemas.openxmlformats.org/officeDocument/2006/relationships/presProps" Target="/ppt/presProps.xml" Id="R063a240124964510" /><Relationship Type="http://schemas.openxmlformats.org/officeDocument/2006/relationships/viewProps" Target="/ppt/viewProps.xml" Id="R453f1f2965c84b6d" /><Relationship Type="http://schemas.openxmlformats.org/officeDocument/2006/relationships/tableStyles" Target="/ppt/tableStyles.xml" Id="Rf8ff100c5b494c17" /><Relationship Type="http://schemas.openxmlformats.org/officeDocument/2006/relationships/slide" Target="/ppt/slides/slide1.xml" Id="Rb115636a06f943db" /><Relationship Type="http://schemas.openxmlformats.org/officeDocument/2006/relationships/slide" Target="/ppt/slides/slide2.xml" Id="R35ed9129f3d74088" /><Relationship Type="http://schemas.openxmlformats.org/officeDocument/2006/relationships/slide" Target="/ppt/slides/slide3.xml" Id="Rce320e7fc0b9407d" /><Relationship Type="http://schemas.openxmlformats.org/officeDocument/2006/relationships/slide" Target="/ppt/slides/slide4.xml" Id="Rd3ee9649b8914e78" /><Relationship Type="http://schemas.openxmlformats.org/officeDocument/2006/relationships/slide" Target="/ppt/slides/slide5.xml" Id="R41868ecec1fc4af5" /><Relationship Type="http://schemas.openxmlformats.org/officeDocument/2006/relationships/slide" Target="/ppt/slides/slide6.xml" Id="R36d62b2fac394142" /><Relationship Type="http://schemas.openxmlformats.org/officeDocument/2006/relationships/slide" Target="/ppt/slides/slide7.xml" Id="R90596655cd4a4737" /><Relationship Type="http://schemas.openxmlformats.org/officeDocument/2006/relationships/slide" Target="/ppt/slides/slide8.xml" Id="R31c8a5b906ba4257" /><Relationship Type="http://schemas.openxmlformats.org/officeDocument/2006/relationships/slide" Target="/ppt/slides/slide9.xml" Id="R00215b90f8f84a9d" /><Relationship Type="http://schemas.openxmlformats.org/officeDocument/2006/relationships/slide" Target="/ppt/slides/slide10.xml" Id="R666fd6f81a9a4a50" /><Relationship Type="http://schemas.openxmlformats.org/officeDocument/2006/relationships/slide" Target="/ppt/slides/slide11.xml" Id="R0d5a24150e3e4033" /><Relationship Type="http://schemas.openxmlformats.org/officeDocument/2006/relationships/slide" Target="/ppt/slides/slide12.xml" Id="Refc3c8c919c642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2b3fd665cb45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7dce10ad4b4592" /><Relationship Type="http://schemas.openxmlformats.org/officeDocument/2006/relationships/notesMaster" Target="/ppt/notesMasters/notesMaster1.xml" Id="R65e9968267f043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453ca4201a417d" /><Relationship Type="http://schemas.openxmlformats.org/officeDocument/2006/relationships/notesMaster" Target="/ppt/notesMasters/notesMaster1.xml" Id="Rd753cc44d0a74b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54082bb1dc4eef" /><Relationship Type="http://schemas.openxmlformats.org/officeDocument/2006/relationships/notesMaster" Target="/ppt/notesMasters/notesMaster1.xml" Id="Rfe580a366ccd4e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35cadc68204253" /><Relationship Type="http://schemas.openxmlformats.org/officeDocument/2006/relationships/notesMaster" Target="/ppt/notesMasters/notesMaster1.xml" Id="R13bc7bdf9f3346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0e1056198c4c4e" /><Relationship Type="http://schemas.openxmlformats.org/officeDocument/2006/relationships/notesMaster" Target="/ppt/notesMasters/notesMaster1.xml" Id="R42cb69d034854f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a4a83ab49344b0" /><Relationship Type="http://schemas.openxmlformats.org/officeDocument/2006/relationships/notesMaster" Target="/ppt/notesMasters/notesMaster1.xml" Id="Rfbe39bce12474d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91764957ec4c08" /><Relationship Type="http://schemas.openxmlformats.org/officeDocument/2006/relationships/notesMaster" Target="/ppt/notesMasters/notesMaster1.xml" Id="R3aed9bbb211d43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16d31966f64b6e" /><Relationship Type="http://schemas.openxmlformats.org/officeDocument/2006/relationships/notesMaster" Target="/ppt/notesMasters/notesMaster1.xml" Id="Rbc64d98c61a64c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991d8b69da4fc0" /><Relationship Type="http://schemas.openxmlformats.org/officeDocument/2006/relationships/notesMaster" Target="/ppt/notesMasters/notesMaster1.xml" Id="Ra22c255063ff46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830371f36845bc" /><Relationship Type="http://schemas.openxmlformats.org/officeDocument/2006/relationships/notesMaster" Target="/ppt/notesMasters/notesMaster1.xml" Id="Rbadd89f4d30b4e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62de5a74c64b86" /><Relationship Type="http://schemas.openxmlformats.org/officeDocument/2006/relationships/notesMaster" Target="/ppt/notesMasters/notesMaster1.xml" Id="Rb403f1a5388947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cd8a92fe354eaf" /><Relationship Type="http://schemas.openxmlformats.org/officeDocument/2006/relationships/notesMaster" Target="/ppt/notesMasters/notesMaster1.xml" Id="R45bb5aae4c094a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ae802021c048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712760c4904056" /><Relationship Type="http://schemas.openxmlformats.org/officeDocument/2006/relationships/slideLayout" Target="/ppt/slideLayouts/slideLayout1.xml" Id="Rce285ed698df48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285ed698df48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381df195247eb" /><Relationship Type="http://schemas.openxmlformats.org/officeDocument/2006/relationships/notesSlide" Target="/ppt/notesSlides/notesSlide1.xml" Id="Rb9c219859f3043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4d1a697034152" /><Relationship Type="http://schemas.openxmlformats.org/officeDocument/2006/relationships/notesSlide" Target="/ppt/notesSlides/notesSlide2.xml" Id="Rcd18c825478d4f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8c55507b748ff" /><Relationship Type="http://schemas.openxmlformats.org/officeDocument/2006/relationships/notesSlide" Target="/ppt/notesSlides/notesSlide3.xml" Id="R245cc864041449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5dd6c46f34e18" /><Relationship Type="http://schemas.openxmlformats.org/officeDocument/2006/relationships/notesSlide" Target="/ppt/notesSlides/notesSlide4.xml" Id="R63e7732929f34e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d585c0f1f4e8b" /><Relationship Type="http://schemas.openxmlformats.org/officeDocument/2006/relationships/notesSlide" Target="/ppt/notesSlides/notesSlide5.xml" Id="R8ec8ee374ba948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85bf4623b483b" /><Relationship Type="http://schemas.openxmlformats.org/officeDocument/2006/relationships/notesSlide" Target="/ppt/notesSlides/notesSlide6.xml" Id="R97323b7898864f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04c50d31f4506" /><Relationship Type="http://schemas.openxmlformats.org/officeDocument/2006/relationships/notesSlide" Target="/ppt/notesSlides/notesSlide7.xml" Id="R0477a67c6f0448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d8df934674b4f" /><Relationship Type="http://schemas.openxmlformats.org/officeDocument/2006/relationships/notesSlide" Target="/ppt/notesSlides/notesSlide8.xml" Id="R33803fa9623446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1a0496cf3448a" /><Relationship Type="http://schemas.openxmlformats.org/officeDocument/2006/relationships/notesSlide" Target="/ppt/notesSlides/notesSlide9.xml" Id="Rcd1a335fce3940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2887edbf74cb7" /><Relationship Type="http://schemas.openxmlformats.org/officeDocument/2006/relationships/notesSlide" Target="/ppt/notesSlides/notesSlide10.xml" Id="Rb5a8b02e771c4d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fb8aac2ac4320" /><Relationship Type="http://schemas.openxmlformats.org/officeDocument/2006/relationships/notesSlide" Target="/ppt/notesSlides/notesSlide11.xml" Id="R77345d7480004e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b771edc4e4642" /><Relationship Type="http://schemas.openxmlformats.org/officeDocument/2006/relationships/notesSlide" Target="/ppt/notesSlides/notesSlide12.xml" Id="Rc87d5d4731c543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CA7FDD-F1CE-4DD4-88F7-2BCF31C6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D3757-1323-49DD-80FC-B72487B2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1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88B96-67D1-4308-8B27-0918DCB8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E706F-1FFF-4E76-B3F9-82C55015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OPENAI FDE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8ACC9-1E21-4EA0-AF7A-365327DE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4333875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Mortgage affordability automation is ready to be discussed as a technical platform, not a one-off script.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92E8C-87BE-427B-BB96-745644A0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40957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It accepts raw broker fact-find cases, normalizes them into lender-ready JSON, drives nine UK lender calculators through Playwright, and returns structured affordability results with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96DCD-F494-4DE0-BD23-36ADD919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047750"/>
            <a:ext cx="1952625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9A007-D53F-41F0-AAA8-26F7EDD5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0477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3ED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83739-90E7-4E99-B332-07A38968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190625"/>
            <a:ext cx="166687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4F1AF-432E-409F-8852-8B113784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600200"/>
            <a:ext cx="1666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registered lender adapters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E877E-DD8D-418E-B1BD-0B3596EE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047750"/>
            <a:ext cx="1952625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0CDED-6B99-4402-99D0-47D4C02F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0477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D18A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99BAC1-5B82-4A50-85D2-9F7A339F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190625"/>
            <a:ext cx="166687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48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684F12-FAF2-4886-BD1C-B3F2F71F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00200"/>
            <a:ext cx="1666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production raw cases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9EADD-D9D7-46B5-BEF5-AD493665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047750"/>
            <a:ext cx="1952625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3CAC92-DFEB-47A6-8E02-529CD13E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0477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80142C-6894-495B-B68C-777DFA14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1190625"/>
            <a:ext cx="166687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360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EA6BEE-3346-48D4-AEA2-EEBA03AE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1600200"/>
            <a:ext cx="1666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sample JSON files validated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D0FD4-9177-4D0C-BD5C-CBEAFEDE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57175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9C7BBE-CFA7-46EA-8131-9E125874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71800"/>
            <a:ext cx="13144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22530"/>
          </a:solidFill>
          <a:ln xmlns:a="http://schemas.openxmlformats.org/drawingml/2006/main" w="9525">
            <a:solidFill>
              <a:srgbClr val="63B3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43D3AA-365C-44A8-909F-4CA2DEB2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048000"/>
            <a:ext cx="1085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3B3ED"/>
                </a:solidFill>
                <a:latin typeface="Aptos"/>
                <a:ea typeface="Aptos"/>
                <a:cs typeface="Aptos"/>
              </a:defRPr>
            </a:pPr>
            <a:r>
              <a:t>TypeScript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112C90-A72E-4C6A-831E-85859775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71800"/>
            <a:ext cx="13144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22530"/>
          </a:solidFill>
          <a:ln xmlns:a="http://schemas.openxmlformats.org/drawingml/2006/main" w="9525">
            <a:solidFill>
              <a:srgbClr val="51D1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87866C-74F2-45FE-8823-7C55474A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48000"/>
            <a:ext cx="1085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1D18A"/>
                </a:solidFill>
                <a:latin typeface="Aptos"/>
                <a:ea typeface="Aptos"/>
                <a:cs typeface="Aptos"/>
              </a:defRPr>
            </a:pPr>
            <a:r>
              <a:t>Playwright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312903-E36E-47C2-993F-28DEEF5C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71800"/>
            <a:ext cx="13144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22530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987C25-F167-4C69-8DA9-744E451B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48000"/>
            <a:ext cx="1085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Express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38DB6C-6590-46DC-89EE-E2F16022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71800"/>
            <a:ext cx="13144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22530"/>
          </a:solidFill>
          <a:ln xmlns:a="http://schemas.openxmlformats.org/drawingml/2006/main" w="9525">
            <a:solidFill>
              <a:srgbClr val="B28C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CFEFB3-A61A-4D9A-9C5E-FDCD4C22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48000"/>
            <a:ext cx="1085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28CFF"/>
                </a:solidFill>
                <a:latin typeface="Aptos"/>
                <a:ea typeface="Aptos"/>
                <a:cs typeface="Aptos"/>
              </a:defRPr>
            </a:pPr>
            <a:r>
              <a:t>GCP Fanout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CB6704-7BDD-4060-8051-5BF7409B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695700"/>
            <a:ext cx="447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Executive thesis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CC2E7E-6142-4574-ACD0-2F098F30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038600"/>
            <a:ext cx="5429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This project converts fragmented lender affordability checks into a repeatable, auditable, multi-lender execution layer that can scale from local demos to production Cloud Run workers.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9716E1-F66B-4235-B838-DEEE14F7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71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58D"/>
                </a:solidFill>
                <a:latin typeface="Aptos"/>
                <a:ea typeface="Aptos"/>
                <a:cs typeface="Aptos"/>
              </a:defRPr>
            </a:pPr>
            <a:r>
              <a:t>Prepared for CTO and manager review. Source: repository README, PROJECT_HANDOFF, WEB_INTERFACE, worker fanout runbook, and source code inspection.</a:t>
            </a:r>
          </a:p>
        </p:txBody>
      </p:sp>
    </p:spTree>
    <p:extLst>
      <p:ext uri="{BB962C8B-B14F-4D97-AF65-F5344CB8AC3E}">
        <p14:creationId xmlns:p14="http://schemas.microsoft.com/office/powerpoint/2010/main" val="13957598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2947BA-15EB-412A-A2D8-A14F1995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DDC34-D7D7-41E3-A4E3-8D234BF0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44637-5344-4482-8C06-4EBD9BD3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858D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52C61-70B6-40C9-BC08-47481455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The platform compresses broker fact-find to lender result in one governed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A4B0D-6882-41BB-BC24-DE90EEBB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7239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The value is not only browser automation; it is normalized input, adapter routing, evidence capture, and status visibility.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FDD37-C236-46D9-91DB-42126D77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50854-4DAF-4C15-B7C2-4EE8F673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619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B56C6-F62E-40B4-B497-11931AB4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F5E77-681C-4CDA-A0A2-47C97F22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276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Raw 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90083-0A13-4FAD-90D2-BF9945DA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12763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YAML or JSON from production case folders, broker fact-find structure, or direct lender-ready input.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E4DED-8EE2-4B37-9F82-04CF42F3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1619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CDFAE3-567F-4873-B400-44B89FF6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3ED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080A59-B901-4786-97CE-6D2F026A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28950"/>
            <a:ext cx="1276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Mapper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F1CC89-885A-4875-BE9F-027C39C4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52800"/>
            <a:ext cx="12763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Per-lender raw-to-ready functions transform shared case data into lender-specific input.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0112E-B34D-482B-81E6-A82C910C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57500"/>
            <a:ext cx="1619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76E211-A911-4215-A5FF-5B12BDAE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575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D18A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991AAB-33CA-4FA0-8889-F6069EE4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28950"/>
            <a:ext cx="1276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9A74C0-580F-4AF5-9191-E2E0C5CD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52800"/>
            <a:ext cx="12763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Zod validates the LenderReadyInput contract before any browser session starts.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0F27E3-2E42-4D7C-AF4A-53A37440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1619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63AC74-97DE-4933-9516-F4D54C6B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CF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B6443E-3905-474D-98B6-93EA6737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28950"/>
            <a:ext cx="1276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Adapter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F0C117-2054-4867-9A6F-9184659E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52800"/>
            <a:ext cx="12763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Registered lender adapter fills the live calculator and extracts the result.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095B98-44C4-48AF-9B3B-76121DE2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0"/>
            <a:ext cx="1619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7F07D1-84C1-4393-A3A7-8F0D53F5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D18A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8BCF50-9671-400C-B230-61F690F7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028950"/>
            <a:ext cx="1276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Result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C420D2-9EF0-4720-A192-A556D0A4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352800"/>
            <a:ext cx="12763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Structured amount, payment, messages, status, error category, and evidence links.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2DDD9D-78FC-4AC2-B8EF-A3C618F4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3909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8480E1-0029-4F82-A137-43EEC485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909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C6C59B-4AC6-45BA-9236-6A02CFC2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909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AC71ED-9D9B-402C-8AFC-FCDCC8A5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909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F884BD-C582-4A37-96B5-BA24DB04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33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7C6E40-9B00-4EAA-8C8D-A2B46D2C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33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56EF3A-0825-4DF1-8A5D-F0A12BEA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33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DA1BE3-5B3D-4C3B-9429-AEF4710C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33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6FF538-DE61-40CF-9A4D-DB481E79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3286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Primary user outcome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78C63A-E267-4CA8-A10B-3E79118F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3524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Run the same case across all mapped lenders instead of manually re-entering data into nine calculator journeys.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60A216-0D1C-4DFF-AA00-F35F86EC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910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B3ED"/>
                </a:solidFill>
                <a:latin typeface="Aptos"/>
                <a:ea typeface="Aptos"/>
                <a:cs typeface="Aptos"/>
              </a:defRPr>
            </a:pPr>
            <a:r>
              <a:t>Engineering outcome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DD79EF-4851-4364-BFE2-9DD757EC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4000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Lender differences are isolated into adapters and mappers while service, API, evidence, and run-state code stay shared.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C72F52-89A9-489A-8E80-44E3A878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71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58D"/>
                </a:solidFill>
                <a:latin typeface="Aptos"/>
                <a:ea typeface="Aptos"/>
                <a:cs typeface="Aptos"/>
              </a:defRPr>
            </a:pPr>
            <a:r>
              <a:t>Key code paths: src/server.ts, src/service.ts, src/domain/validation.ts, src/mappers/*, src/adapters/*.</a:t>
            </a:r>
          </a:p>
        </p:txBody>
      </p:sp>
    </p:spTree>
    <p:extLst>
      <p:ext uri="{BB962C8B-B14F-4D97-AF65-F5344CB8AC3E}">
        <p14:creationId xmlns:p14="http://schemas.microsoft.com/office/powerpoint/2010/main" val="9124125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7208AB-5535-4054-8F0E-5EEF4E0B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B06E4-7D19-4171-97B3-D8837ECC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15D18-01CE-49E6-9082-92027334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858D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F05E1-6BD3-466D-9489-EE3E9DF0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The architecture separates input normalization, orchestration, lender execution, and durable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D7B0A-A0FF-4F69-92D3-FA9977EB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7239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This is the shape that lets the same codebase run locally, as an API, or as Cloud Run fanout.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98536-210B-4B72-8154-D152DF29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A7607-4DF4-4E40-95A8-6CBB0163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5B30F-0844-467A-8C40-BEAA4F4F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Client/API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D5300-FA8E-4371-B506-F943B329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812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B3ED"/>
                </a:solidFill>
                <a:latin typeface="Aptos"/>
                <a:ea typeface="Aptos"/>
                <a:cs typeface="Aptos"/>
              </a:defRPr>
            </a:pPr>
            <a:r>
              <a:t>Core 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F3E930-90F8-4CFC-A191-E4630016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3812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28CFF"/>
                </a:solidFill>
                <a:latin typeface="Aptos"/>
                <a:ea typeface="Aptos"/>
                <a:cs typeface="Aptos"/>
              </a:defRPr>
            </a:pPr>
            <a:r>
              <a:t>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3AAAE-60FE-4616-873A-87C345E0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D18A"/>
                </a:solidFill>
                <a:latin typeface="Aptos"/>
                <a:ea typeface="Aptos"/>
                <a:cs typeface="Aptos"/>
              </a:defRPr>
            </a:pPr>
            <a:r>
              <a:t>State/evidence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1BFE39-2CD2-4923-99B0-1E90BE46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21907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40D65-CDB0-4296-92A8-75CD5922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8CC44D-1218-4889-939A-83D14F48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847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Web UI + REST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9F51F-FDFB-467D-BEFA-71FBDF4F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847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public/index.html plus Express routes for cases, runs, worker tasks, and artifacts.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7363D5-36EC-4CEA-81F0-456F5AD9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21907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3D5256-2213-419D-BC92-37D72603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3ED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653844-32A3-4070-8920-131100B6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19450"/>
            <a:ext cx="1847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Validation + registry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0A630-4D46-493F-B7B8-F1F3F0AC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43300"/>
            <a:ext cx="1847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parseLenderReadyInput then getAdapter(input.lender) for explicit routing.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983818-F847-4D06-82CE-2CCA0233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48000"/>
            <a:ext cx="21907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11F6E5-C0A2-466B-A61E-AA64C78F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480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C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D7CBA3-329D-4078-95B7-2378E7AC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19450"/>
            <a:ext cx="1847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Playwright adapters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0768FA-93B9-4CC5-A6FB-2A736063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43300"/>
            <a:ext cx="1847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Lender-specific selectors, branch logic, result extraction, screenshot/PDF/failure capture.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998A48-9080-4025-8BF0-D4E589A5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48000"/>
            <a:ext cx="21907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450F94-9B8B-4E85-A3C2-974BD9AF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480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D18A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CDEA4D-7737-438E-87C6-33C8487A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19450"/>
            <a:ext cx="1847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Repositories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3C1CEA-B07A-4767-9A85-19E5165E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847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In-memory locally; Firestore for durable case-run and per-lender state.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D65543-0AB4-467F-8D45-91ECB54A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67250"/>
            <a:ext cx="219075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EE6FBF-EADB-4C1C-A2E4-4C61D513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672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3ED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F60A9F-DC6E-4871-B501-2FA8600A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38700"/>
            <a:ext cx="1847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Raw mappers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07B18D-9BE4-4707-A510-95DD163D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162550"/>
            <a:ext cx="1847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Nine lender mappers convert fact-find cases into validated lender-ready payloads.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581FDC-5DAF-4455-AFC5-C45B4A29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219075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9330E9-FCC5-4F88-9F10-7288CD48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CF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60FF86-2384-4C9F-B10B-3CCA18AD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38700"/>
            <a:ext cx="1847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Worker endpoint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44364F-21E7-4AFB-9671-46B88D11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62550"/>
            <a:ext cx="1847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POST /worker/lender-task runs exactly one lender for one case.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AB2B9A-ADAE-4E40-91DA-1E214EDD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67250"/>
            <a:ext cx="219075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C59C8C-25E3-446B-BFDE-130B7DAC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672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D18A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05E99F-6BC9-4F0D-87EB-563FBB8E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38700"/>
            <a:ext cx="1847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Cloud Storage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2882DC-D8E2-41A2-A090-4034561C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62550"/>
            <a:ext cx="1847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Evidence artifacts upload to gs:// paths and stream back through /api/artifact.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D898D5-B099-4596-B521-E01D3B16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0045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BAF3F9-CDBD-4351-9FFA-506747E7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004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3ED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F44CF9-78C1-4CE7-81FB-D958A30C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00450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CFF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7623D75-FB2E-4650-ADCE-B85F8829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71950"/>
            <a:ext cx="285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3ED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C02C87-BA69-41D7-B262-812EF5EA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4350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3ED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A4D771-B4DD-4F07-94A9-FAB3CB2E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171950"/>
            <a:ext cx="285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CFF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A0B6B4-4105-4D0E-86D1-746BCDF8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43500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CFF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96DD0D-3EA2-4B29-8CCE-7F00B740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71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58D"/>
                </a:solidFill>
                <a:latin typeface="Aptos"/>
                <a:ea typeface="Aptos"/>
                <a:cs typeface="Aptos"/>
              </a:defRPr>
            </a:pPr>
            <a:r>
              <a:t>Runtime dependencies: Node 20+, TypeScript, Express, Playwright, Zod, YAML, Google Cloud Tasks, Firestore, Cloud Storage.</a:t>
            </a:r>
          </a:p>
        </p:txBody>
      </p:sp>
    </p:spTree>
    <p:extLst>
      <p:ext uri="{BB962C8B-B14F-4D97-AF65-F5344CB8AC3E}">
        <p14:creationId xmlns:p14="http://schemas.microsoft.com/office/powerpoint/2010/main" val="7731790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91B2A4-58EF-4CFF-AB8E-EE7292BF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6F299-823C-4AE7-8A6C-BF626BA0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RUN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CAB03-BD2D-4F1E-86D0-389599E0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858D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E035C-527D-4C23-B34F-6D0AB09C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A case run becomes nine isolated lender tasks when fanout is enabled.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705A1-C30C-4A69-A1AE-D62ADC02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7239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The API returns a runId quickly, the UI polls state, and one failed lender does not block the rest of the result set.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7D597-6A51-4F22-8677-1BB3D995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AD767-5F9A-44F1-BA40-7D168A06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17145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48C54D-46BA-4C56-9C0D-9A92DC0C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F9625-868A-4ADC-A07F-C1914DCE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1. Create 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5DBB2-26DC-4F76-B10F-B2C1060A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13716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createCaseRun(caseId, mappedLenders) records aggregate run metadata.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B74C0-FF15-4E83-9A2D-EA2A24A3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71800"/>
            <a:ext cx="17145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E39242-2C33-42BD-B5EE-E7910BFB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718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3ED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D6345D-93FA-4E9D-A9B8-3F22BB5C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43250"/>
            <a:ext cx="137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2. Enqueue tasks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754696-7606-40CF-94F9-959B34D0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67100"/>
            <a:ext cx="13716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Cloud Tasks creates one POST payload per lender.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6814D3-EC91-41A6-80F6-75EE43D9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71800"/>
            <a:ext cx="17145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A9762-4A31-4A5E-A78F-A07B824A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718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C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F5AE72-E37F-41AC-9F3A-07BFB263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43250"/>
            <a:ext cx="137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3. Mark running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FC603-3725-4C26-899B-6FE0571E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67100"/>
            <a:ext cx="13716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Worker updates lender status before opening a browser session.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35172F-537C-4440-ABCD-A99357CA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71800"/>
            <a:ext cx="17145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94DB27-0425-4ECE-89BE-021B607D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718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D18A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42C33C-1685-4DD6-A41C-46BB7A32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137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4. Execute lender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AA6331-1673-4486-9E27-80C53099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3716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Mapper, validator, adapter, result extraction, evidence capture.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DAF999-2714-4BBD-A76E-CC1E148B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71800"/>
            <a:ext cx="17145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E7720C-A166-4002-BBB6-DD7913E3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718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D18A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B92FCB-3928-4022-8EFD-6BD379FD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43250"/>
            <a:ext cx="137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5. Save result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5B8E47-399D-44AE-8A3C-5ED23886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67100"/>
            <a:ext cx="13716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Per-lender row plus aggregate success/failure counts update Firestore.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D0554B-B701-4067-B63A-AFB142FD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052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A00E85-34D6-4786-838B-A7697F47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052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E24CF1-46CD-4B64-817E-EB0F02E2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052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559293-A5E4-45E6-8065-F475F7DC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052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946B1B-5C30-4887-A642-2EAE8580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9810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22530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FFDD21-BBB5-4C79-8686-27779AA0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942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GET /api/runs/:runId returns queued, running, success, failed, timed_out, completed, or completed_with_failures state for UI polling.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308E79-676F-4C0C-A503-7BD01B96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19550"/>
            <a:ext cx="19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ED869C-5B4C-4318-B690-7B4F1BA1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19550"/>
            <a:ext cx="19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CE07DC-104C-4DA4-BF6E-D441EB1A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3333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Local demo mode runs inline batches with LENDER_RUN_BATCH_SIZE, default 3.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BF8C1B-065F-4D8B-9598-56BF22EC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753100"/>
            <a:ext cx="457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Production mode uses Cloud Tasks plus private Cloud Run workers with concurrency=1 for browser-heavy isolation.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74D5BC-20EC-4FB7-A244-BA5E34F7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71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58D"/>
                </a:solidFill>
                <a:latin typeface="Aptos"/>
                <a:ea typeface="Aptos"/>
                <a:cs typeface="Aptos"/>
              </a:defRPr>
            </a:pPr>
            <a:r>
              <a:t>Key code paths: lenderWorkerFanoutEnabled, CloudTasksLenderTaskDispatcher, runOneLenderTask, RunStateRepository.</a:t>
            </a:r>
          </a:p>
        </p:txBody>
      </p:sp>
    </p:spTree>
    <p:extLst>
      <p:ext uri="{BB962C8B-B14F-4D97-AF65-F5344CB8AC3E}">
        <p14:creationId xmlns:p14="http://schemas.microsoft.com/office/powerpoint/2010/main" val="16774988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3C01B8-744C-471C-A36E-83E95A8C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6816D-4361-48E8-BD54-AD0D14F0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ADAPTER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394CB-BF12-4994-9442-EF08A6B4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858D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53260-1DFF-4A2F-ADF7-3B32B0B8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The most important engineering boundary is the lender adapter contract.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2EA51-700C-4EEF-A0D4-4C2F5283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7239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Adapters isolate brittle lender UI behavior behind a stable input/output interface.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80B5A-B629-45CD-8F28-B33078B3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6E8B3-97CC-441F-9DA3-4628F5B4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2857500" cy="21907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35FF3-399F-4DF0-B9F5-68F3FE7C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3ED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06970-6072-4A77-8B65-F9602D80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2514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LenderReadyInput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4223D-EE15-4C94-8FFF-12B263D8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05175"/>
            <a:ext cx="25146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Canonical TypeScript contract: case, property, loan, household, applicants, outgoings, and other properties.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5F767-F8F8-4CC5-B2F2-9F22730B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09875"/>
            <a:ext cx="2857500" cy="21907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7CFFA-0314-45D9-A6C7-CDE5AA81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09875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C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DDF25F-FBC8-4ED1-BA7C-BBD87565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81325"/>
            <a:ext cx="2514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LenderAdapter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AAD088-BB92-4484-928F-9F44BF78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305175"/>
            <a:ext cx="25146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One adapter per lender: open calculator URL, select branches, fill fields, calculate, extract result.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3500E-5CDB-4CCD-96CA-0A3204DA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09875"/>
            <a:ext cx="2857500" cy="21907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C23FA-54DA-4E6F-9AEA-3E91424E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09875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D18A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A5C341-7D4F-4E51-B28E-A7ACD6E0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81325"/>
            <a:ext cx="2514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AffordabilityResult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CE3766-6B8B-4B86-97C5-AF98C805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05175"/>
            <a:ext cx="25146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lender, status, maximumBorrowing, monthlyPayment, messages, evidence, and categorized error.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4CF441-F6BE-447C-9CEB-453FAFE4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8620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A16FDF-BEF3-45D0-A9C1-2B0F172F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88620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C4DCC3-DCE6-4D35-B601-E84E0E80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B747F1-A962-43D0-A110-6D4EB0E9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137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Failure class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682D4C-F1CE-43BC-B62A-C9A18909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29250"/>
            <a:ext cx="3562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Why it matters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78D801-62BD-4528-8103-A5B48396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29250"/>
            <a:ext cx="413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Project response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7A071D-5F87-4753-97A0-2A52F563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56CC84-FC35-42E7-8883-A15635B7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53100"/>
            <a:ext cx="137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field_fill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58C75C-EBC8-4D21-BAEF-D00CBD50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753100"/>
            <a:ext cx="3562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Hidden/conditional fields block progress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0BD2A6-1135-496A-820D-3B76136E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53100"/>
            <a:ext cx="413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Exact IDs and branch-specific mapping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074A2D-F23E-4AC8-A52E-517CED6E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AF1985-5E1A-4F6B-B9EF-459A807A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76950"/>
            <a:ext cx="137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result_extraction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C43611-5AD7-42E2-B721-61E0F964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076950"/>
            <a:ext cx="3562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False positives can report wrong amount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0FDB87-B73A-4A97-B2F1-609A46EA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076950"/>
            <a:ext cx="413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Guard on real results section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3C99AA-4FF9-4EFA-A1F8-6EBDC556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055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9FF010-9A3F-4E14-8A60-38104AB9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00800"/>
            <a:ext cx="137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lender_unavailable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3CA567-A3B7-4BC0-9BBA-938445C7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400800"/>
            <a:ext cx="3562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Site failure should not poison other lenders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3E377B-9911-4C5C-8FE8-7D9E9A8A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400800"/>
            <a:ext cx="413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Per-lender failure state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EBF66A-273B-4EAB-9F59-6C5650F8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29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</p:spTree>
    <p:extLst>
      <p:ext uri="{BB962C8B-B14F-4D97-AF65-F5344CB8AC3E}">
        <p14:creationId xmlns:p14="http://schemas.microsoft.com/office/powerpoint/2010/main" val="11353835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95F844-9193-4E01-BF42-DA0AC8EA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16C29-CA74-4D92-904A-19144275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MAPPING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9017B-B486-4939-BBA7-EE7CEBE9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858D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8F347-8835-4761-BFE8-C56497F6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The mapper layer turns one raw case into nine lender-specific payloads.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4DEB6-D922-482D-9D58-96776B39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7239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This is the part that makes the product feel like a multi-lender platform instead of a collection of scripts.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C0A88-A7CE-45C3-8BC7-E790095C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F1544-2FFF-4DCF-AB3E-E2B38D53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381250" cy="2286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22530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40539-38E5-40F2-AFDB-B9060DBF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05150"/>
            <a:ext cx="19526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Raw fact-find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A8844-67CC-4B68-8BB2-EB093508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1857375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purchase/remortgage, applicants, employment, income, outgoings, property, existing mortgages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6D0B7-01E6-4C7D-8A5F-550ED0E2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74E9BF-7EB4-4FF4-B09B-07569D7F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24150"/>
            <a:ext cx="3714750" cy="2571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915D7-591D-4B19-8CAD-9FAEE1AB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24150"/>
            <a:ext cx="371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3ED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8EEA2F-5ADA-4B58-BDB6-18B00D42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95600"/>
            <a:ext cx="337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Per-lender raw-to-ready mappers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72D55-09C5-465D-A142-55AF3F1A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19450"/>
            <a:ext cx="33718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mapHalifaxRawInput, mapBarclaysRawInput, mapHsbcRawInput, mapKensingtonRawInput, mapNatWestRawInput, mapNationwideRawInput, mapSantanderRawInput, mapSkiptonRawInput, and mapVirginMoneyRawInput. Each output is parsed through lenderReadyInputSchema before execution.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12D8D-F0AE-4F7D-A2DC-0BDC066F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F9BE1-75EF-48DB-8CBA-E89362C9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0"/>
            <a:ext cx="2381250" cy="2286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22530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C00D37-5646-413E-A14F-503C7162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05150"/>
            <a:ext cx="19526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Lender-ready 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0529D3-534F-433D-A407-1FFD96E7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95700"/>
            <a:ext cx="1905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validated payload matching the adapter's lender, case, applicant, loan, and outgoings requirements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7A3299-4A10-4CFD-AEEB-4E6CBEE0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028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1D18A"/>
                </a:solidFill>
                <a:latin typeface="Aptos"/>
                <a:ea typeface="Aptos"/>
                <a:cs typeface="Aptos"/>
              </a:defRPr>
            </a:pPr>
            <a:r>
              <a:t>Management value: new lenders become a defined mapping + adapter onboarding workflow, not a rewrite of the service.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0EBBCD-AFE3-447E-B4F7-4AFA3AD1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71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58D"/>
                </a:solidFill>
                <a:latin typeface="Aptos"/>
                <a:ea typeface="Aptos"/>
                <a:cs typeface="Aptos"/>
              </a:defRPr>
            </a:pPr>
            <a:r>
              <a:t>Mapping references live in Mapping_xlxs and docs/*_FIELD_MAP.md / docs/*_RAW_MAPPING.md where available.</a:t>
            </a:r>
          </a:p>
        </p:txBody>
      </p:sp>
    </p:spTree>
    <p:extLst>
      <p:ext uri="{BB962C8B-B14F-4D97-AF65-F5344CB8AC3E}">
        <p14:creationId xmlns:p14="http://schemas.microsoft.com/office/powerpoint/2010/main" val="9149343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357CDA-6EE5-47D9-A1A0-DF4DADD8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F3B43-340F-4647-8496-9B58E1CD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CLOUD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8456A-7944-47C4-9201-B706C9CD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858D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09785-95F1-4530-8446-8E3A7551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Production scales by isolating browser-heavy lender work into private workers.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A94E5-30EA-4367-A1E8-2AFE7FE9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7239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The design avoids one huge request holding nine browser sessions and gives operations a queue, retries, and evidence durability.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BBCBC-6A0A-47D5-BBF2-E62056AE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FDAFB-4D3B-4A8E-8A6B-B191676E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1907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9F6BF-3633-4FBC-AD41-4A724BF5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C7E98-ED33-42ED-BEA1-132E3240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847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Public API 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83DDB-DCB0-4285-A841-874651BE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1847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mortgage-affordability-demo. Serves UI, case routes, run routes, artifact proxy, and task enqueue.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3830E-1462-4BED-A16B-934531F8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21907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6EC6B-73F0-465F-A8BB-BFDA8DA1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3ED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B85464-CD48-470E-A51E-EA79CF15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28950"/>
            <a:ext cx="1847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Cloud Tasks queue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3EA687-8202-439D-97B6-7BF26724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52800"/>
            <a:ext cx="1847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lender-worker-queue in europe-west2. One task per lender per case.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79255C-4BA8-410D-9F6B-29B580CF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21907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977F56-9E54-4400-9742-D39047FB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C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EACFBB-2C7F-45A7-B1D5-B7FD792C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28950"/>
            <a:ext cx="1847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Private worker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0403B6-40F6-4CE9-82D3-12C40D36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52800"/>
            <a:ext cx="1847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mortgage-affordability-worker. Concurrency 1, CPU 2, memory 4Gi, max instances 20.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66CAB7-ED82-42AC-A3BF-0AA30761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0"/>
            <a:ext cx="18097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F04E79-3012-4356-9A59-69C8F57C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D18A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E2BD2A-AF52-4E5A-B2B2-0A349862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28950"/>
            <a:ext cx="1466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Durable 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457DFF-2A44-4325-B8A5-F5C8D541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52800"/>
            <a:ext cx="1466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Firestore plus Cloud Storage evidence bucket.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11B7FE-DE71-48C7-8AEC-67DAC36A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623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5896AA-18CF-4859-8AE0-61EF96ED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623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0124EF-C1A2-4574-82B2-D23DD8B0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623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73B260-7284-4D6E-8DFC-10BFC4CF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05375"/>
            <a:ext cx="161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2B984A-134B-4F22-B1CF-DF001E68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05375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CE3E97-92D6-4F2E-B01A-DFEC59C8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048250"/>
            <a:ext cx="133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300s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28CA36-CD21-4E6D-B873-1CC19706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457825"/>
            <a:ext cx="133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API timeout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59C740-1162-4946-BCFD-A17F90B1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05375"/>
            <a:ext cx="161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396E27-CA3A-4791-A58F-C8FDA411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05375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C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A8D09B-B3A6-488A-8EC2-174733C9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048250"/>
            <a:ext cx="133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120s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EF99CF-C3FB-4557-96E3-59008E69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457825"/>
            <a:ext cx="133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worker timeout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BEF6B1-69CA-481E-B93E-1AB1F40B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905375"/>
            <a:ext cx="161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C9F8D2-DD8C-49C7-A151-23CF719F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905375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D18A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2CEF3A-02F4-4E79-B813-C2197119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048250"/>
            <a:ext cx="133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CD77D3-BC08-489B-8160-81E6A749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457825"/>
            <a:ext cx="133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worker max instances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F36F45-18C7-467D-B149-9DFA5B13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05375"/>
            <a:ext cx="161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85CEAC-1C47-42AE-BC92-57149DEF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05375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3ED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D3B4B4-9812-4EA1-A7F5-2F910C8D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48250"/>
            <a:ext cx="133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947E8E-3987-4657-8255-ECE20C1E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57825"/>
            <a:ext cx="133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worker concurrency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106158-C75C-4353-94F9-FF6889F6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29200"/>
            <a:ext cx="2000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Evidence streams only from the configured bucket, reducing accidental artifact exposure.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ECE650-241E-42D6-B381-B1666DDE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71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58D"/>
                </a:solidFill>
                <a:latin typeface="Aptos"/>
                <a:ea typeface="Aptos"/>
                <a:cs typeface="Aptos"/>
              </a:defRPr>
            </a:pPr>
            <a:r>
              <a:t>Runbook resources: europe-west2, Cloud Run API/worker services, Firestore, lender-worker-queue, Cloud Storage evidence bucket.</a:t>
            </a:r>
          </a:p>
        </p:txBody>
      </p:sp>
    </p:spTree>
    <p:extLst>
      <p:ext uri="{BB962C8B-B14F-4D97-AF65-F5344CB8AC3E}">
        <p14:creationId xmlns:p14="http://schemas.microsoft.com/office/powerpoint/2010/main" val="16466360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C7BA86-0A8F-4AAE-A1DB-F1C49348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F5971-A667-44B3-A53E-5128D3F9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EVIDENCE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B552F-87C6-4930-8562-9FE8847B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858D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1A7E7-57FB-460E-A7A6-0311F27D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Every run returns machine-readable results plus human-verifiable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E7A6B-1ECF-403C-AEAA-476719BD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7239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This matters for lender automation because failures are often field-map or lender-validation issues, not generic timeout problems.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0726C-E779-41A7-9097-F7203944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05719-7E3C-40A7-A448-982F8EE1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3812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59F23-6957-4892-966C-24D694CC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D18A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AC3AE-6766-40FF-BB26-DB4FB1F2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2038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Success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A3854-4EC9-438A-889C-E9A8EF00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203835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screenshotPath/screenshotUri, optional PDF, timestamp, extracted amount, messages.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7CEBD-6F33-400C-B11C-DF74118E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23812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AF328-9C48-4772-912C-ECF851A9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6D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2E149E-C436-48BC-9896-C0DD9374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28950"/>
            <a:ext cx="2038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Failure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CA09B-39C9-4179-8953-2535540E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52800"/>
            <a:ext cx="203835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failureBundlePath/Uri, screenshots, failure.json, error category and message.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14B2E-67CF-4EF1-A196-E1C946E2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23812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AF3DF-ECA7-47AB-B932-2FEA597C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3ED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B680C3-6795-4261-B062-3FFE4DC8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28950"/>
            <a:ext cx="2038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Artifact 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C644D5-1E27-4F7E-B304-2038C72B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52800"/>
            <a:ext cx="203835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/api/artifact streams local allowed paths or gs:// objects from configured bucket only.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AEE161-DAA8-426D-AB63-1EF1923E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4330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26150C-02D3-4E2C-BE95-ACF68C8A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669D1B-69AB-466B-A226-EF49BB42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48250"/>
            <a:ext cx="8953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22530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7C9721-F606-465C-A8E6-61D6D570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29225"/>
            <a:ext cx="838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Debugging loop: screenshot -&gt; visible validation message -&gt; field map comparison -&gt; smallest exact selector/mapping patch -&gt; rerun exact sample.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82B3D4-F364-45C8-B583-C2FD6ADD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62650"/>
            <a:ext cx="933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This is the operational difference between brittle automation and an auditable lender execution service.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65CE96-5440-4CC0-95B0-7C063853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71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58D"/>
                </a:solidFill>
                <a:latin typeface="Aptos"/>
                <a:ea typeface="Aptos"/>
                <a:cs typeface="Aptos"/>
              </a:defRPr>
            </a:pPr>
            <a:r>
              <a:t>Evidence contract: AutomationEvidence in src/domain/contracts.ts; artifact upload/read helpers in src/infrastructure/cloud-storage-artifacts.ts.</a:t>
            </a:r>
          </a:p>
        </p:txBody>
      </p:sp>
    </p:spTree>
    <p:extLst>
      <p:ext uri="{BB962C8B-B14F-4D97-AF65-F5344CB8AC3E}">
        <p14:creationId xmlns:p14="http://schemas.microsoft.com/office/powerpoint/2010/main" val="10085800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B0BEBB-2600-4121-8B59-5FDE6981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4200B-30CA-4DDD-95B7-0BEC374C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80BD9-D28E-4A0D-AB22-C6B320B0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858D"/>
                </a:solidFill>
                <a:latin typeface="Aptos"/>
                <a:ea typeface="Aptos"/>
                <a:cs typeface="Aptos"/>
              </a:defRPr>
            </a:pPr>
            <a: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A64C2-B7B8-432F-BD05-4E98503D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The project has broad scenario coverage, but test automation needs one more maturity step.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B9227-96C7-4967-B37F-7F9065B0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7239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The repository already contains a large validation corpus; the gap is turning it into a reliable recursive regression runner.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09452-4F73-4825-8883-AB23C124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2DB364-78BF-493C-955E-A9266F91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0"/>
            <a:ext cx="18097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8E67A-63F2-48BC-AAB4-3163B02D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3ED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3DDC0-5A15-4F07-AD3D-FEDB34BA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905125"/>
            <a:ext cx="152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FAFCAA-6302-4B00-B6DC-1B5F77E2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3147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mapped lenders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BAC44-338F-42C7-B51B-52C0BBE4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62250"/>
            <a:ext cx="18097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7C838-74D0-4137-8C5C-BD4D5443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622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D18A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EF9ADC-F679-4FFF-A426-583F2DE3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905125"/>
            <a:ext cx="152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48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383ED-456E-40ED-AA6C-F0BA8EA1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3147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production YAML cases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6EF198-195A-44E6-8030-07472C12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62250"/>
            <a:ext cx="18097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B0178-3BEB-43A5-9DF3-2F34CCD1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622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0485CF-7FA2-4B86-ABAA-8593226E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905125"/>
            <a:ext cx="152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360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70E8D1-CF82-4E86-B9C3-AE359FEB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3147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sample JSON validates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A09174-BF94-42F6-AA3C-21F5369A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62250"/>
            <a:ext cx="18097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C81DF7-8C23-4BBF-B2AB-DB7F098D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622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6D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DE1FCA-B428-480C-A4A2-D23A4167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05125"/>
            <a:ext cx="152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8E9066-64E8-4620-87D8-B6030CA0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3147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compiled test files today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1FF503-98AE-4A6B-ADB9-0AD3D4F2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62250"/>
            <a:ext cx="18097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324B7A-8E8E-4382-98FE-C327BEE1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622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CF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05D6F7-3788-4595-825A-45C5462E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905125"/>
            <a:ext cx="152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4D5696-D019-4AB1-ABCC-700827DD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3147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default inline batch size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AD2E65-6944-49F9-9993-FD19B197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0F986A-D3C2-42CD-B944-E44ECA67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29125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Coverage area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DE8492-ED35-4BAA-A253-3E7ECD7D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29125"/>
            <a:ext cx="518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Current state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4CA8CC-A821-475A-A6FB-F7F21858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29125"/>
            <a:ext cx="2705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Executive read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0F92D8-277E-4901-BDA4-322D5DBA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05306E-16B3-4249-9577-813B13C5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52975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Lender adapters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164270-EC12-4382-B8B3-1E74A1FD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52975"/>
            <a:ext cx="518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Barclays, Halifax, HSBC, Kensington, Nationwide, NatWest, Santander, Skipton, Virgin Money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603ADC-B351-457F-B77C-79CE5C2E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52975"/>
            <a:ext cx="2705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Broad enough for credible demo and integration planning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DAD9AD-6F49-47AC-A41D-16F5F848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815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CD1BB7-E9CC-4262-B46A-C7EDEB15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76825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Raw mapping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B3D2CD-ABFD-4E45-A9A5-3CC896D0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76825"/>
            <a:ext cx="518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Implemented for all nine registered lenders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BEE0C4-37FF-4494-AD91-92A26F81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76825"/>
            <a:ext cx="2705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Core product capability is in place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5A30AC-3135-499D-85FA-B38C2718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AEE7A8-0787-4F15-BB43-F3505C9D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00675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Regression execution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AA2D35-A529-4F54-853D-BF1D110C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400675"/>
            <a:ext cx="518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run-samples.mjs scans top-level samples only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ED3AA1-74AF-46DE-A162-C92EE939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00675"/>
            <a:ext cx="2705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Needs recursive runner before production confidence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806E0E-648F-41E8-95C9-A8C58AB0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292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5DF2CD-3BAA-470A-9741-937B84D8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24525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Automated tests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BD0AD1-8BFE-4CAF-B521-15C69523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724525"/>
            <a:ext cx="518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npm test runs 0 compiled tests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487FE5-2B67-426F-BF5E-66ECE478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724525"/>
            <a:ext cx="2705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Add unit + validation + run-state tests next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73CBB4-2F1D-4FF9-8D82-98698984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EB1823-8935-4DD7-8ACB-E7C70D30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71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58D"/>
                </a:solidFill>
                <a:latin typeface="Aptos"/>
                <a:ea typeface="Aptos"/>
                <a:cs typeface="Aptos"/>
              </a:defRPr>
            </a:pPr>
            <a:r>
              <a:t>Verification status comes from docs/PROJECT_HANDOFF.md and sample folder inspection.</a:t>
            </a:r>
          </a:p>
        </p:txBody>
      </p:sp>
    </p:spTree>
    <p:extLst>
      <p:ext uri="{BB962C8B-B14F-4D97-AF65-F5344CB8AC3E}">
        <p14:creationId xmlns:p14="http://schemas.microsoft.com/office/powerpoint/2010/main" val="19621914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FFA3CA-6F5F-4E8D-9FF4-D7860F89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76594-A98B-4E9A-9C1C-32182F42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RISK REGISTER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51470-4D7D-4776-BE16-AD9B50E9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858D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9BAE0-E68C-4CE4-BC86-4AAD43FC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The architecture is sound; reliability now depends on selector precision and regression discipline.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DAC7C-245B-475C-B25F-687DE431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7239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The risks are known, containable, and mostly about hardening rather than re-architecture.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48EDA-6FCF-4EF3-9157-01E6FC45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2A910-3929-444F-8991-2486232B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8D3EF-8081-4494-AFF9-7A87308D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57500"/>
            <a:ext cx="1847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E0D12-D119-4CEA-987F-F0418534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857500"/>
            <a:ext cx="3562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Why CTO should care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527B3-880F-4935-9928-2B019FBD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857500"/>
            <a:ext cx="5181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Mitigation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0FB08-6264-4B69-A020-B6B850C5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9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27E72-3312-4CA3-9119-27022526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14700"/>
            <a:ext cx="1847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Lender UI drift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43F90-2E41-4C80-AD41-065BD03B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314700"/>
            <a:ext cx="3562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Calculator IDs, labels, and hidden fields change without notice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674EF6-0417-44B4-A55B-BBEDFF56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314700"/>
            <a:ext cx="5181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Field maps, exact selectors, screenshot-first debugging, per-lender confidence levels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CFF4AE-F893-4305-8C21-E145250C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76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792D57-AC92-48AB-86BB-658F30E9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771900"/>
            <a:ext cx="1847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False extraction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D56C06-EF07-4985-A2FD-5A4D4FB9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771900"/>
            <a:ext cx="3562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Any currency text can masquerade as a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ECED30-B603-4AD8-A8C8-28899321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771900"/>
            <a:ext cx="5181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Guard extraction on real result sections and explicit zero-lending pages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8F19FC-DB57-4256-81A3-FD10EDE9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33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B2E7AE-B3F9-4F5D-A015-DC1A2497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29100"/>
            <a:ext cx="1847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Santander state mutation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6B9A04-C18C-4A5F-A2F2-2A1E377B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229100"/>
            <a:ext cx="3562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Vue/Pinia internal writes are pragmatic but fragile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7DBAF3-D13D-4898-BF85-3F2DC918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229100"/>
            <a:ext cx="5181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Prefer visible-field automation where practical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769D77-367B-410C-816E-4641E20F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91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952535-0002-4014-B5B8-8A183E5D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86300"/>
            <a:ext cx="1847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No auth on UI/API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7C1BD5-3286-491A-B17B-2C68AECC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686300"/>
            <a:ext cx="3562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Public surface is not production-secure yet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BC3045-A96E-4054-B93C-C57645AE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686300"/>
            <a:ext cx="5181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Add authentication, IAM boundaries, and audit logging before external exposure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F1E264-BB94-404F-8712-88FB93D1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91D1F5-4202-41A0-8FE3-A2F998EC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143500"/>
            <a:ext cx="1847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Incomplete regression runner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B5FCBB-A9EC-4047-A15B-43575362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143500"/>
            <a:ext cx="3562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Large corpus is not fully exercised by npm run samples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1F2247-9575-4891-BE6C-B4D7C6B2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143500"/>
            <a:ext cx="5181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Make runner recursive with lender filters and CI gates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ED6D72-91F6-4CED-8771-3FB6E889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05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865C6C-053A-4730-8287-17B5E54F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57900"/>
            <a:ext cx="100012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22530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A875AC-01EA-44BF-8261-1972A627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72200"/>
            <a:ext cx="9582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FDE recommendation: present the project as a working platform prototype with a clear hardening plan, not as a finished production broker system.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80B197-F343-49A2-9552-C9E0AC36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71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58D"/>
                </a:solidFill>
                <a:latin typeface="Aptos"/>
                <a:ea typeface="Aptos"/>
                <a:cs typeface="Aptos"/>
              </a:defRPr>
            </a:pPr>
            <a:r>
              <a:t>Risk details are derived from docs/PROJECT_HANDOFF.md and adapter debugging notes.</a:t>
            </a:r>
          </a:p>
        </p:txBody>
      </p:sp>
    </p:spTree>
    <p:extLst>
      <p:ext uri="{BB962C8B-B14F-4D97-AF65-F5344CB8AC3E}">
        <p14:creationId xmlns:p14="http://schemas.microsoft.com/office/powerpoint/2010/main" val="580096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194A8A-159F-489B-A5F5-150413EA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C61AB-9A00-4EF4-BB63-934B2887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1E6F4-8783-432F-B45F-21513560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858D"/>
                </a:solidFill>
                <a:latin typeface="Aptos"/>
                <a:ea typeface="Aptos"/>
                <a:cs typeface="Aptos"/>
              </a:defRPr>
            </a:pPr>
            <a: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F4850-6978-4531-9808-6C7677A4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The next milestone should convert demo breadth into production confidence.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DC292-B885-482F-825E-DC150D61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7239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This roadmap is intentionally sequenced: harden the verification loop first, then improve UX and production controls.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54C7C-2052-4660-95B6-758D5169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6795C-317A-4493-A883-B179BF18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3812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55E4B-178A-44CA-BD6B-3676A5AA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D18A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E6A37-423A-4922-A0AA-0941CEC8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2038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0-2 weeks: test spine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EA3F87-9CF3-4F37-90AB-BCE974D7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20383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Recursive sample runner, lender filters, validation-only tests for every sample, shared extraction helper tests, CI check gate.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879FA-2DB1-4FA0-A233-FDB10E6F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52750"/>
            <a:ext cx="23812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88874-C35F-4ED3-BD28-57279D35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527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3ED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9F1AAC-A852-4F9A-B992-F764EEB0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24200"/>
            <a:ext cx="2038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2-4 weeks: reliability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CB6C03-3E2D-4DD5-8191-A47E5541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48050"/>
            <a:ext cx="20383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Adapter confidence levels, branch-specific domain validation, Santander visible-field replacement where feasible.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B6A9C0-DC4F-4223-9474-99F75BC2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52750"/>
            <a:ext cx="23812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2417EA-EED2-4023-8674-8687BBAF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527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B6E1B-0660-41F8-9789-27415451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24200"/>
            <a:ext cx="2038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4-6 weeks: product UX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0AD89C-84B0-4125-8300-822A24B1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48050"/>
            <a:ext cx="20383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Run history, retry failed lender, selected-lender checkboxes, clearer timed_out/missing input states.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2201A0-05BF-496D-A55C-73969F14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52750"/>
            <a:ext cx="20002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93220D-3943-4095-9441-4C0AB7AF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52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CF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98C66A-7077-49CE-8402-E05E91D4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24200"/>
            <a:ext cx="1657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6+ weeks: production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67BC80-BE52-41A7-9ABA-EADD7643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48050"/>
            <a:ext cx="16573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Auth, audit logs, push progress, monitoring, Firestore TTL, deploy canary.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5C4226-B406-477D-B3EE-C3213AEC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57625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A7BFCA-F9E5-442F-9518-23F911E0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57625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D11D5C-3246-4503-9C34-5D6B395C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57625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DF3AF9-97E3-4C76-A9E9-8ADFCB8D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81625"/>
            <a:ext cx="9906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2530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F03234-81A7-4403-B599-1A69C90D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34025"/>
            <a:ext cx="9334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Decision ask: approve a hardening sprint focused on regression coverage, per-lender reliability scoring, and production security controls.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77AD76-5315-4496-BC6E-59F21F1A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71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58D"/>
                </a:solidFill>
                <a:latin typeface="Aptos"/>
                <a:ea typeface="Aptos"/>
                <a:cs typeface="Aptos"/>
              </a:defRPr>
            </a:pPr>
            <a:r>
              <a:t>Recommended priorities match docs/PROJECT_HANDOFF.md: recursive runner, validation tests, extraction tests, shared helpers, confidence levels, stronger validation, Cloud state tests.</a:t>
            </a:r>
          </a:p>
        </p:txBody>
      </p:sp>
    </p:spTree>
    <p:extLst>
      <p:ext uri="{BB962C8B-B14F-4D97-AF65-F5344CB8AC3E}">
        <p14:creationId xmlns:p14="http://schemas.microsoft.com/office/powerpoint/2010/main" val="2374847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F9AF20-7501-4FEC-B674-7CC37325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t>CLOSING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AAE8E-69A4-4226-BE07-3B639C2F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334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This is a credible foundation for a lender affordability execution layer.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4A361-8BC8-4F5B-AEAC-134FEC9D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7239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The strongest signal is not a single successful browser run. It is the repeatable architecture around lender-ready contracts, adapters, mapping, evidence, and production fanout.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B20F4-C797-44FB-A385-D0EDFB95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5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CF56D-2077-4EA4-9536-83F9F69E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2857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2E283-C172-46A5-89C0-3504A7C1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D18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57DD5-297D-448C-8162-086D7C2B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2571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Keep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62BA3-CE43-4BD8-BB46-C813B07F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0075"/>
            <a:ext cx="2571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adapter boundary, evidence model, GCP fanout shape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C9C5F-5372-4795-AC76-DFB4C24A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57625"/>
            <a:ext cx="2857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1BA53-2FBB-4EB9-9495-9DA47DAF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57625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84123-E702-4175-8C26-6E15BA0F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00500"/>
            <a:ext cx="2571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Harden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B118C3-F55F-4841-8719-612A415A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10075"/>
            <a:ext cx="2571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recursive regression, exact selectors, branch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3C305E-8357-433A-AA83-831DB6B7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57625"/>
            <a:ext cx="2857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78979B-A19A-413A-826E-0230CA97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57625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3E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BEF2A4-62A0-40DE-A514-9CC1F69C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00500"/>
            <a:ext cx="2571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Add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309B7A-D4BF-44BD-8257-CDB36E7B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10075"/>
            <a:ext cx="2571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auth, observability, retries, run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345285-9726-4CC3-B470-FD8EA41E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98107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851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B5DF4C-FC33-4FBE-B44B-6932F3D1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981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C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362948-6DDC-439C-9FA7-907A0B8B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53075"/>
            <a:ext cx="9467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t>Recommended positioning to CTO and manager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C6D387-882A-4A5D-89AC-0A244E99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76925"/>
            <a:ext cx="9467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t>A production-minded automation platform prototype with broad lender coverage and a concrete reliability/security roadmap.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B85586-3848-45AD-B432-B18189AD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71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58D"/>
                </a:solidFill>
                <a:latin typeface="Aptos"/>
                <a:ea typeface="Aptos"/>
                <a:cs typeface="Aptos"/>
              </a:defRPr>
            </a:pPr>
            <a:r>
              <a:t>Suggested demo flow: open web UI, select a raw production case, run all lenders, poll runId, open one evidence artifact, then show the source boundaries.</a:t>
            </a:r>
          </a:p>
        </p:txBody>
      </p:sp>
    </p:spTree>
    <p:extLst>
      <p:ext uri="{BB962C8B-B14F-4D97-AF65-F5344CB8AC3E}">
        <p14:creationId xmlns:p14="http://schemas.microsoft.com/office/powerpoint/2010/main" val="10154076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2026-06-08T15:36:05.5290000Z</dcterms:created>
  <dcterms:modified xsi:type="dcterms:W3CDTF">2026-06-08T15:36:05.5290000Z</dcterms:modified>
</coreProperties>
</file>